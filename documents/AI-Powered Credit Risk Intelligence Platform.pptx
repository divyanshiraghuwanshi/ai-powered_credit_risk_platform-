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1293162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38041806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3267094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D102AA4-2E52-42A5-BE78-C10A11A6F51E}"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2781454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102AA4-2E52-42A5-BE78-C10A11A6F51E}" type="datetimeFigureOut">
              <a:rPr lang="en-IN" smtClean="0"/>
              <a:t>02-06-2026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1016062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102AA4-2E52-42A5-BE78-C10A11A6F51E}" type="datetimeFigureOut">
              <a:rPr lang="en-IN" smtClean="0"/>
              <a:t>02-06-2026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4289511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02AA4-2E52-42A5-BE78-C10A11A6F51E}" type="datetimeFigureOut">
              <a:rPr lang="en-IN" smtClean="0"/>
              <a:t>02-06-2026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2666820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102AA4-2E52-42A5-BE78-C10A11A6F51E}"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34443579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D102AA4-2E52-42A5-BE78-C10A11A6F51E}" type="datetimeFigureOut">
              <a:rPr lang="en-IN" smtClean="0"/>
              <a:t>02-06-2026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2920893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18180655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18446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18315081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40146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3676291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34543338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102AA4-2E52-42A5-BE78-C10A11A6F51E}" type="datetimeFigureOut">
              <a:rPr lang="en-IN" smtClean="0"/>
              <a:t>02-06-2026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C55391-80CF-4FE0-9D8D-DCF612B87FD5}" type="slidenum">
              <a:rPr lang="en-IN" smtClean="0"/>
              <a:t>‹#›</a:t>
            </a:fld>
            <a:endParaRPr lang="en-IN"/>
          </a:p>
        </p:txBody>
      </p:sp>
    </p:spTree>
    <p:extLst>
      <p:ext uri="{BB962C8B-B14F-4D97-AF65-F5344CB8AC3E}">
        <p14:creationId xmlns:p14="http://schemas.microsoft.com/office/powerpoint/2010/main" val="485858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102AA4-2E52-42A5-BE78-C10A11A6F51E}" type="datetimeFigureOut">
              <a:rPr lang="en-IN" smtClean="0"/>
              <a:t>02-06-2026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1C55391-80CF-4FE0-9D8D-DCF612B87FD5}" type="slidenum">
              <a:rPr lang="en-IN" smtClean="0"/>
              <a:t>‹#›</a:t>
            </a:fld>
            <a:endParaRPr lang="en-IN"/>
          </a:p>
        </p:txBody>
      </p:sp>
    </p:spTree>
    <p:extLst>
      <p:ext uri="{BB962C8B-B14F-4D97-AF65-F5344CB8AC3E}">
        <p14:creationId xmlns:p14="http://schemas.microsoft.com/office/powerpoint/2010/main" val="204944832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DivyanshiRaghuwanshi/AI-powered_Credit_Risk_platfor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0AD85-7D28-8EBA-FC5E-E255C74737F8}"/>
              </a:ext>
            </a:extLst>
          </p:cNvPr>
          <p:cNvSpPr>
            <a:spLocks noGrp="1"/>
          </p:cNvSpPr>
          <p:nvPr>
            <p:ph type="ctrTitle"/>
          </p:nvPr>
        </p:nvSpPr>
        <p:spPr>
          <a:xfrm>
            <a:off x="1524000" y="844826"/>
            <a:ext cx="9144000" cy="3112398"/>
          </a:xfrm>
        </p:spPr>
        <p:txBody>
          <a:bodyPr>
            <a:normAutofit/>
          </a:bodyPr>
          <a:lstStyle/>
          <a:p>
            <a:r>
              <a:rPr lang="en-IN" sz="4400" dirty="0">
                <a:solidFill>
                  <a:schemeClr val="accent1">
                    <a:lumMod val="50000"/>
                  </a:schemeClr>
                </a:solidFill>
              </a:rPr>
              <a:t>AI-Powered Credit Risk Intelligence Platform</a:t>
            </a:r>
            <a:br>
              <a:rPr lang="en-IN" sz="4400" dirty="0"/>
            </a:br>
            <a:br>
              <a:rPr lang="en-IN" sz="2200" dirty="0"/>
            </a:br>
            <a:r>
              <a:rPr lang="en-IN" sz="2200" dirty="0"/>
              <a:t>Lightweight Explainable Credit Scoring, Policy Rule Verification, and Conversational Analytics</a:t>
            </a:r>
            <a:br>
              <a:rPr lang="en-IN" sz="2200" dirty="0"/>
            </a:br>
            <a:br>
              <a:rPr lang="en-IN" sz="2200" dirty="0"/>
            </a:br>
            <a:r>
              <a:rPr lang="en-IN" sz="2200" b="1" dirty="0"/>
              <a:t>Name</a:t>
            </a:r>
            <a:r>
              <a:rPr lang="en-IN" sz="2200" dirty="0"/>
              <a:t>: Divyanshi Raghuwanshi</a:t>
            </a:r>
            <a:endParaRPr lang="en-IN" dirty="0"/>
          </a:p>
        </p:txBody>
      </p:sp>
      <p:sp>
        <p:nvSpPr>
          <p:cNvPr id="3" name="Subtitle 2">
            <a:extLst>
              <a:ext uri="{FF2B5EF4-FFF2-40B4-BE49-F238E27FC236}">
                <a16:creationId xmlns:a16="http://schemas.microsoft.com/office/drawing/2014/main" id="{9F1A9309-6966-508F-F409-ECC269946A60}"/>
              </a:ext>
            </a:extLst>
          </p:cNvPr>
          <p:cNvSpPr>
            <a:spLocks noGrp="1"/>
          </p:cNvSpPr>
          <p:nvPr>
            <p:ph type="subTitle" idx="1"/>
          </p:nvPr>
        </p:nvSpPr>
        <p:spPr>
          <a:xfrm>
            <a:off x="1384852" y="4287838"/>
            <a:ext cx="9144000" cy="1655762"/>
          </a:xfrm>
        </p:spPr>
        <p:txBody>
          <a:bodyPr/>
          <a:lstStyle/>
          <a:p>
            <a:r>
              <a:rPr lang="en-IN" b="1" dirty="0"/>
              <a:t>GitHub Repository</a:t>
            </a:r>
            <a:r>
              <a:rPr lang="en-IN" dirty="0"/>
              <a:t>: </a:t>
            </a:r>
            <a:r>
              <a:rPr lang="en-IN" dirty="0">
                <a:hlinkClick r:id="rId2"/>
              </a:rPr>
              <a:t>https://github.com/DivyanshiRaghuwanshi/AI-powered_Credit_Risk_platform-</a:t>
            </a:r>
            <a:endParaRPr lang="en-IN" dirty="0"/>
          </a:p>
          <a:p>
            <a:br>
              <a:rPr lang="en-IN" dirty="0"/>
            </a:br>
            <a:r>
              <a:rPr lang="en-IN" b="1" dirty="0"/>
              <a:t>Live Deployment Link</a:t>
            </a:r>
            <a:r>
              <a:rPr lang="en-IN" dirty="0"/>
              <a:t>: https://bunfsqlosfun8fnkjnxakv.streamlit.app/</a:t>
            </a:r>
          </a:p>
        </p:txBody>
      </p:sp>
    </p:spTree>
    <p:extLst>
      <p:ext uri="{BB962C8B-B14F-4D97-AF65-F5344CB8AC3E}">
        <p14:creationId xmlns:p14="http://schemas.microsoft.com/office/powerpoint/2010/main" val="1204368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A87C-2DEF-D205-7154-47926444DA86}"/>
              </a:ext>
            </a:extLst>
          </p:cNvPr>
          <p:cNvSpPr>
            <a:spLocks noGrp="1"/>
          </p:cNvSpPr>
          <p:nvPr>
            <p:ph type="title"/>
          </p:nvPr>
        </p:nvSpPr>
        <p:spPr/>
        <p:txBody>
          <a:bodyPr/>
          <a:lstStyle/>
          <a:p>
            <a:r>
              <a:rPr lang="en-US" dirty="0"/>
              <a:t>Project Objectives</a:t>
            </a:r>
            <a:endParaRPr lang="en-IN" dirty="0"/>
          </a:p>
        </p:txBody>
      </p:sp>
      <p:sp>
        <p:nvSpPr>
          <p:cNvPr id="3" name="Content Placeholder 2">
            <a:extLst>
              <a:ext uri="{FF2B5EF4-FFF2-40B4-BE49-F238E27FC236}">
                <a16:creationId xmlns:a16="http://schemas.microsoft.com/office/drawing/2014/main" id="{FD287265-BACE-9D16-EABE-FDE3D7C02B0A}"/>
              </a:ext>
            </a:extLst>
          </p:cNvPr>
          <p:cNvSpPr>
            <a:spLocks noGrp="1"/>
          </p:cNvSpPr>
          <p:nvPr>
            <p:ph idx="1"/>
          </p:nvPr>
        </p:nvSpPr>
        <p:spPr/>
        <p:txBody>
          <a:bodyPr>
            <a:normAutofit/>
          </a:bodyPr>
          <a:lstStyle/>
          <a:p>
            <a:r>
              <a:rPr lang="en-US" b="1" dirty="0"/>
              <a:t>Core Goal</a:t>
            </a:r>
            <a:r>
              <a:rPr lang="en-US" dirty="0"/>
              <a:t>: Build an end-to-end explainable credit scoring application using the Kaggle Home Credit Default Risk dataset.</a:t>
            </a:r>
          </a:p>
          <a:p>
            <a:r>
              <a:rPr lang="en-US" b="1" dirty="0"/>
              <a:t>Key Capabilities</a:t>
            </a:r>
            <a:r>
              <a:rPr lang="en-US" dirty="0"/>
              <a:t>:</a:t>
            </a:r>
          </a:p>
          <a:p>
            <a:pPr lvl="1"/>
            <a:r>
              <a:rPr lang="en-US" b="1" dirty="0"/>
              <a:t>EDA &amp; Ingestion</a:t>
            </a:r>
            <a:r>
              <a:rPr lang="en-US" dirty="0"/>
              <a:t>: Clean, engineer, and load application columns into PostgreSQL.</a:t>
            </a:r>
          </a:p>
          <a:p>
            <a:pPr lvl="1"/>
            <a:r>
              <a:rPr lang="en-US" b="1" dirty="0"/>
              <a:t>ML Predictive Model</a:t>
            </a:r>
            <a:r>
              <a:rPr lang="en-US" dirty="0"/>
              <a:t>: Train robust classifiers to evaluate default probabilities.</a:t>
            </a:r>
          </a:p>
          <a:p>
            <a:pPr lvl="1"/>
            <a:r>
              <a:rPr lang="en-US" b="1" dirty="0"/>
              <a:t>Explainable AI (XAI)</a:t>
            </a:r>
            <a:r>
              <a:rPr lang="en-US" dirty="0"/>
              <a:t>: Calculate local SHAP values and translate numerical feature weights into plain English explanations.</a:t>
            </a:r>
          </a:p>
          <a:p>
            <a:pPr lvl="1"/>
            <a:r>
              <a:rPr lang="en-US" b="1" dirty="0"/>
              <a:t>Conversational Agent</a:t>
            </a:r>
            <a:r>
              <a:rPr lang="en-US" dirty="0"/>
              <a:t>: Build an NL-to-SQL chatbot with an auto-correct/self-repair execution loop.</a:t>
            </a:r>
          </a:p>
          <a:p>
            <a:pPr lvl="1"/>
            <a:r>
              <a:rPr lang="en-US" b="1" dirty="0"/>
              <a:t>Credit Policy Rules</a:t>
            </a:r>
            <a:r>
              <a:rPr lang="en-US" dirty="0"/>
              <a:t>: Auto-extract logic rules and validate them using proportion Z-tests before storing them in a rule registry.</a:t>
            </a:r>
          </a:p>
          <a:p>
            <a:endParaRPr lang="en-IN" dirty="0"/>
          </a:p>
        </p:txBody>
      </p:sp>
    </p:spTree>
    <p:extLst>
      <p:ext uri="{BB962C8B-B14F-4D97-AF65-F5344CB8AC3E}">
        <p14:creationId xmlns:p14="http://schemas.microsoft.com/office/powerpoint/2010/main" val="88021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E0B-25BA-5A40-C475-2E59D257EF9F}"/>
              </a:ext>
            </a:extLst>
          </p:cNvPr>
          <p:cNvSpPr>
            <a:spLocks noGrp="1"/>
          </p:cNvSpPr>
          <p:nvPr>
            <p:ph type="title"/>
          </p:nvPr>
        </p:nvSpPr>
        <p:spPr/>
        <p:txBody>
          <a:bodyPr/>
          <a:lstStyle/>
          <a:p>
            <a:r>
              <a:rPr lang="en-IN" dirty="0"/>
              <a:t> System Architecture &amp; Tech Stack</a:t>
            </a:r>
          </a:p>
        </p:txBody>
      </p:sp>
      <p:sp>
        <p:nvSpPr>
          <p:cNvPr id="3" name="Content Placeholder 2">
            <a:extLst>
              <a:ext uri="{FF2B5EF4-FFF2-40B4-BE49-F238E27FC236}">
                <a16:creationId xmlns:a16="http://schemas.microsoft.com/office/drawing/2014/main" id="{6882DE5C-B6DB-47FF-1EFE-294219D8EBDF}"/>
              </a:ext>
            </a:extLst>
          </p:cNvPr>
          <p:cNvSpPr>
            <a:spLocks noGrp="1"/>
          </p:cNvSpPr>
          <p:nvPr>
            <p:ph idx="1"/>
          </p:nvPr>
        </p:nvSpPr>
        <p:spPr/>
        <p:txBody>
          <a:bodyPr>
            <a:normAutofit/>
          </a:bodyPr>
          <a:lstStyle/>
          <a:p>
            <a:r>
              <a:rPr lang="en-IN" b="1" dirty="0"/>
              <a:t>Three-Tier Architecture</a:t>
            </a:r>
            <a:r>
              <a:rPr lang="en-IN" dirty="0"/>
              <a:t>:</a:t>
            </a:r>
          </a:p>
          <a:p>
            <a:pPr lvl="1"/>
            <a:r>
              <a:rPr lang="en-IN" b="1" dirty="0"/>
              <a:t>UI Layer</a:t>
            </a:r>
            <a:r>
              <a:rPr lang="en-IN" dirty="0"/>
              <a:t>: </a:t>
            </a:r>
            <a:r>
              <a:rPr lang="en-IN" dirty="0" err="1"/>
              <a:t>Streamlit</a:t>
            </a:r>
            <a:r>
              <a:rPr lang="en-IN" dirty="0"/>
              <a:t> web interface for business analysts and underwriters.</a:t>
            </a:r>
          </a:p>
          <a:p>
            <a:pPr lvl="1"/>
            <a:r>
              <a:rPr lang="en-IN" b="1" dirty="0"/>
              <a:t>API Layer</a:t>
            </a:r>
            <a:r>
              <a:rPr lang="en-IN" dirty="0"/>
              <a:t>: </a:t>
            </a:r>
            <a:r>
              <a:rPr lang="en-IN" dirty="0" err="1"/>
              <a:t>FastAPI</a:t>
            </a:r>
            <a:r>
              <a:rPr lang="en-IN" dirty="0"/>
              <a:t> backend acting as the routing agent and LLM gateway.</a:t>
            </a:r>
          </a:p>
          <a:p>
            <a:pPr lvl="1"/>
            <a:r>
              <a:rPr lang="en-IN" b="1" dirty="0"/>
              <a:t>Database</a:t>
            </a:r>
            <a:r>
              <a:rPr lang="en-IN" dirty="0"/>
              <a:t>: PostgreSQL storing processed records, schema descriptions, and engineered tables.</a:t>
            </a:r>
          </a:p>
          <a:p>
            <a:r>
              <a:rPr lang="en-IN" b="1" dirty="0"/>
              <a:t>Technology Stack</a:t>
            </a:r>
            <a:r>
              <a:rPr lang="en-IN" dirty="0"/>
              <a:t>:</a:t>
            </a:r>
          </a:p>
          <a:p>
            <a:pPr lvl="1"/>
            <a:r>
              <a:rPr lang="en-IN" dirty="0"/>
              <a:t>Python 3.11, </a:t>
            </a:r>
            <a:r>
              <a:rPr lang="en-IN" dirty="0" err="1"/>
              <a:t>Uvicorn</a:t>
            </a:r>
            <a:r>
              <a:rPr lang="en-IN" dirty="0"/>
              <a:t>, </a:t>
            </a:r>
            <a:r>
              <a:rPr lang="en-IN" dirty="0" err="1"/>
              <a:t>FastAPI</a:t>
            </a:r>
            <a:r>
              <a:rPr lang="en-IN" dirty="0"/>
              <a:t>, </a:t>
            </a:r>
            <a:r>
              <a:rPr lang="en-IN" dirty="0" err="1"/>
              <a:t>Streamlit</a:t>
            </a:r>
            <a:r>
              <a:rPr lang="en-IN" dirty="0"/>
              <a:t>, Pandas, NumPy.</a:t>
            </a:r>
          </a:p>
          <a:p>
            <a:pPr lvl="1"/>
            <a:r>
              <a:rPr lang="en-IN" dirty="0"/>
              <a:t>Scikit-Learn (</a:t>
            </a:r>
            <a:r>
              <a:rPr lang="en-IN" dirty="0" err="1"/>
              <a:t>Modeling</a:t>
            </a:r>
            <a:r>
              <a:rPr lang="en-IN" dirty="0"/>
              <a:t>), SHAP (Explainability).</a:t>
            </a:r>
          </a:p>
          <a:p>
            <a:pPr lvl="1"/>
            <a:r>
              <a:rPr lang="en-IN" dirty="0" err="1"/>
              <a:t>LangChain</a:t>
            </a:r>
            <a:r>
              <a:rPr lang="en-IN" dirty="0"/>
              <a:t>, </a:t>
            </a:r>
            <a:r>
              <a:rPr lang="en-IN" dirty="0" err="1"/>
              <a:t>ChatOpenAI</a:t>
            </a:r>
            <a:r>
              <a:rPr lang="en-IN" dirty="0"/>
              <a:t> (supporting </a:t>
            </a:r>
            <a:r>
              <a:rPr lang="en-IN" dirty="0" err="1"/>
              <a:t>Groq</a:t>
            </a:r>
            <a:r>
              <a:rPr lang="en-IN" dirty="0"/>
              <a:t> Llama 3, Gemini 1.5, or OpenAI GPT-4o-mini).</a:t>
            </a:r>
          </a:p>
          <a:p>
            <a:endParaRPr lang="en-IN" dirty="0"/>
          </a:p>
        </p:txBody>
      </p:sp>
    </p:spTree>
    <p:extLst>
      <p:ext uri="{BB962C8B-B14F-4D97-AF65-F5344CB8AC3E}">
        <p14:creationId xmlns:p14="http://schemas.microsoft.com/office/powerpoint/2010/main" val="33740293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34F22-FB30-D51D-464B-D40E08311222}"/>
              </a:ext>
            </a:extLst>
          </p:cNvPr>
          <p:cNvSpPr>
            <a:spLocks noGrp="1"/>
          </p:cNvSpPr>
          <p:nvPr>
            <p:ph type="title"/>
          </p:nvPr>
        </p:nvSpPr>
        <p:spPr>
          <a:xfrm>
            <a:off x="677334" y="609600"/>
            <a:ext cx="8596668" cy="1139687"/>
          </a:xfrm>
        </p:spPr>
        <p:txBody>
          <a:bodyPr/>
          <a:lstStyle/>
          <a:p>
            <a:r>
              <a:rPr lang="en-IN" dirty="0"/>
              <a:t>Data Processing &amp; EDA Insights</a:t>
            </a:r>
          </a:p>
        </p:txBody>
      </p:sp>
      <p:sp>
        <p:nvSpPr>
          <p:cNvPr id="3" name="Content Placeholder 2">
            <a:extLst>
              <a:ext uri="{FF2B5EF4-FFF2-40B4-BE49-F238E27FC236}">
                <a16:creationId xmlns:a16="http://schemas.microsoft.com/office/drawing/2014/main" id="{EE555C54-D5ED-BA16-7A58-B52DCAAFCAD7}"/>
              </a:ext>
            </a:extLst>
          </p:cNvPr>
          <p:cNvSpPr>
            <a:spLocks noGrp="1"/>
          </p:cNvSpPr>
          <p:nvPr>
            <p:ph idx="1"/>
          </p:nvPr>
        </p:nvSpPr>
        <p:spPr>
          <a:xfrm>
            <a:off x="836360" y="2061197"/>
            <a:ext cx="8596668" cy="3880773"/>
          </a:xfrm>
        </p:spPr>
        <p:txBody>
          <a:bodyPr>
            <a:normAutofit fontScale="92500"/>
          </a:bodyPr>
          <a:lstStyle/>
          <a:p>
            <a:r>
              <a:rPr lang="en-IN" b="1" dirty="0"/>
              <a:t>Ingested Volume</a:t>
            </a:r>
            <a:r>
              <a:rPr lang="en-IN" dirty="0"/>
              <a:t>: 356,255 rows and 92 columns loaded from home_credit_future_dpd_labels.csv.</a:t>
            </a:r>
          </a:p>
          <a:p>
            <a:r>
              <a:rPr lang="en-IN" b="1" dirty="0"/>
              <a:t>Preprocessing Pipeline</a:t>
            </a:r>
            <a:r>
              <a:rPr lang="en-IN" dirty="0"/>
              <a:t>:</a:t>
            </a:r>
          </a:p>
          <a:p>
            <a:pPr lvl="1"/>
            <a:r>
              <a:rPr lang="en-IN" dirty="0"/>
              <a:t>Features selected based on credit relevance (external ratings, debt-to-income, credit utilization).</a:t>
            </a:r>
          </a:p>
          <a:p>
            <a:pPr lvl="1"/>
            <a:r>
              <a:rPr lang="en-IN" dirty="0"/>
              <a:t>Missing value imputation using median statistics to handle columns with high null values.</a:t>
            </a:r>
          </a:p>
          <a:p>
            <a:pPr lvl="1"/>
            <a:r>
              <a:rPr lang="en-IN" dirty="0"/>
              <a:t>Standard scaling applied to variables before feeding into models.</a:t>
            </a:r>
          </a:p>
          <a:p>
            <a:r>
              <a:rPr lang="en-IN" b="1" dirty="0"/>
              <a:t>Key Observations</a:t>
            </a:r>
            <a:r>
              <a:rPr lang="en-IN" dirty="0"/>
              <a:t>:</a:t>
            </a:r>
          </a:p>
          <a:p>
            <a:pPr lvl="1"/>
            <a:r>
              <a:rPr lang="en-IN" dirty="0"/>
              <a:t>Extreme target label imbalance: ~91.9% active/repaid accounts vs. ~8.1% default accounts.</a:t>
            </a:r>
          </a:p>
          <a:p>
            <a:pPr lvl="1"/>
            <a:r>
              <a:rPr lang="en-IN" dirty="0"/>
              <a:t>Strong negative correlation between external rating variables (EXT_SOURCE_2, EXT_SOURCE_3) and default risk.</a:t>
            </a:r>
          </a:p>
          <a:p>
            <a:endParaRPr lang="en-IN" dirty="0"/>
          </a:p>
        </p:txBody>
      </p:sp>
    </p:spTree>
    <p:extLst>
      <p:ext uri="{BB962C8B-B14F-4D97-AF65-F5344CB8AC3E}">
        <p14:creationId xmlns:p14="http://schemas.microsoft.com/office/powerpoint/2010/main" val="1318389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C4084-4D9C-C53E-8C01-B77A42AF5A18}"/>
              </a:ext>
            </a:extLst>
          </p:cNvPr>
          <p:cNvSpPr>
            <a:spLocks noGrp="1"/>
          </p:cNvSpPr>
          <p:nvPr>
            <p:ph type="title"/>
          </p:nvPr>
        </p:nvSpPr>
        <p:spPr/>
        <p:txBody>
          <a:bodyPr/>
          <a:lstStyle/>
          <a:p>
            <a:r>
              <a:rPr lang="en-US" dirty="0"/>
              <a:t>Predictive ML Modeling</a:t>
            </a:r>
            <a:endParaRPr lang="en-IN" dirty="0"/>
          </a:p>
        </p:txBody>
      </p:sp>
      <p:sp>
        <p:nvSpPr>
          <p:cNvPr id="3" name="Content Placeholder 2">
            <a:extLst>
              <a:ext uri="{FF2B5EF4-FFF2-40B4-BE49-F238E27FC236}">
                <a16:creationId xmlns:a16="http://schemas.microsoft.com/office/drawing/2014/main" id="{4889B15E-C8E6-7429-8628-5A4F9F5E227B}"/>
              </a:ext>
            </a:extLst>
          </p:cNvPr>
          <p:cNvSpPr>
            <a:spLocks noGrp="1"/>
          </p:cNvSpPr>
          <p:nvPr>
            <p:ph idx="1"/>
          </p:nvPr>
        </p:nvSpPr>
        <p:spPr/>
        <p:txBody>
          <a:bodyPr>
            <a:normAutofit lnSpcReduction="10000"/>
          </a:bodyPr>
          <a:lstStyle/>
          <a:p>
            <a:r>
              <a:rPr lang="en-US" dirty="0"/>
              <a:t> </a:t>
            </a:r>
            <a:r>
              <a:rPr lang="en-US" b="1" dirty="0"/>
              <a:t>Classifier Model Selection</a:t>
            </a:r>
            <a:r>
              <a:rPr lang="en-US" dirty="0"/>
              <a:t>:</a:t>
            </a:r>
          </a:p>
          <a:p>
            <a:pPr lvl="1"/>
            <a:r>
              <a:rPr lang="en-US" b="1" dirty="0"/>
              <a:t>Random Forest Classifier</a:t>
            </a:r>
            <a:r>
              <a:rPr lang="en-US" dirty="0"/>
              <a:t>: Primary model selected for its resistance to overfitting, handling of non-linear interactions, and compatibility with SHAP explainer objects.</a:t>
            </a:r>
          </a:p>
          <a:p>
            <a:pPr lvl="1"/>
            <a:r>
              <a:rPr lang="en-US" b="1" dirty="0"/>
              <a:t>Decision Tree Classifier</a:t>
            </a:r>
            <a:r>
              <a:rPr lang="en-US" dirty="0"/>
              <a:t>: Secondary model used as the structural engine to extract cutoff limits.</a:t>
            </a:r>
          </a:p>
          <a:p>
            <a:r>
              <a:rPr lang="en-US" b="1" dirty="0"/>
              <a:t>Class Imbalance Strategy</a:t>
            </a:r>
            <a:r>
              <a:rPr lang="en-US" dirty="0"/>
              <a:t>:</a:t>
            </a:r>
          </a:p>
          <a:p>
            <a:pPr lvl="1"/>
            <a:r>
              <a:rPr lang="en-US" dirty="0"/>
              <a:t>Integrated class cost penalization directly into modeling (</a:t>
            </a:r>
            <a:r>
              <a:rPr lang="en-US" dirty="0" err="1"/>
              <a:t>class_weight</a:t>
            </a:r>
            <a:r>
              <a:rPr lang="en-US" dirty="0"/>
              <a:t>="balanced" / </a:t>
            </a:r>
            <a:r>
              <a:rPr lang="en-US" dirty="0" err="1"/>
              <a:t>balanced_subsample</a:t>
            </a:r>
            <a:r>
              <a:rPr lang="en-US" dirty="0"/>
              <a:t>).</a:t>
            </a:r>
          </a:p>
          <a:p>
            <a:r>
              <a:rPr lang="en-US" b="1" dirty="0"/>
              <a:t>Validation Performance</a:t>
            </a:r>
            <a:r>
              <a:rPr lang="en-US" dirty="0"/>
              <a:t>:</a:t>
            </a:r>
          </a:p>
          <a:p>
            <a:pPr lvl="1"/>
            <a:r>
              <a:rPr lang="en-US" dirty="0"/>
              <a:t>Evaluated on Stratified Splits (preserving default label ratios).</a:t>
            </a:r>
          </a:p>
          <a:p>
            <a:pPr lvl="1"/>
            <a:r>
              <a:rPr lang="en-US" dirty="0"/>
              <a:t>Achieved validation </a:t>
            </a:r>
            <a:r>
              <a:rPr lang="en-US" b="1" dirty="0"/>
              <a:t>ROC-AUC of 0.71 to 0.75</a:t>
            </a:r>
            <a:r>
              <a:rPr lang="en-US" dirty="0"/>
              <a:t>, ensuring strong discriminative capability.</a:t>
            </a:r>
          </a:p>
          <a:p>
            <a:endParaRPr lang="en-IN" dirty="0"/>
          </a:p>
        </p:txBody>
      </p:sp>
    </p:spTree>
    <p:extLst>
      <p:ext uri="{BB962C8B-B14F-4D97-AF65-F5344CB8AC3E}">
        <p14:creationId xmlns:p14="http://schemas.microsoft.com/office/powerpoint/2010/main" val="1238594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F469-A8F1-E3D5-BCCE-F92F6ABFFF5B}"/>
              </a:ext>
            </a:extLst>
          </p:cNvPr>
          <p:cNvSpPr>
            <a:spLocks noGrp="1"/>
          </p:cNvSpPr>
          <p:nvPr>
            <p:ph type="title"/>
          </p:nvPr>
        </p:nvSpPr>
        <p:spPr/>
        <p:txBody>
          <a:bodyPr/>
          <a:lstStyle/>
          <a:p>
            <a:r>
              <a:rPr lang="en-US" dirty="0"/>
              <a:t>Explainable AI (SHAP + LLM)</a:t>
            </a:r>
            <a:endParaRPr lang="en-IN" dirty="0"/>
          </a:p>
        </p:txBody>
      </p:sp>
      <p:sp>
        <p:nvSpPr>
          <p:cNvPr id="3" name="Content Placeholder 2">
            <a:extLst>
              <a:ext uri="{FF2B5EF4-FFF2-40B4-BE49-F238E27FC236}">
                <a16:creationId xmlns:a16="http://schemas.microsoft.com/office/drawing/2014/main" id="{536D9562-A87B-97ED-C0CE-321C53A6FB38}"/>
              </a:ext>
            </a:extLst>
          </p:cNvPr>
          <p:cNvSpPr>
            <a:spLocks noGrp="1"/>
          </p:cNvSpPr>
          <p:nvPr>
            <p:ph idx="1"/>
          </p:nvPr>
        </p:nvSpPr>
        <p:spPr/>
        <p:txBody>
          <a:bodyPr>
            <a:normAutofit/>
          </a:bodyPr>
          <a:lstStyle/>
          <a:p>
            <a:r>
              <a:rPr lang="en-US" b="1" dirty="0"/>
              <a:t>Underwriting Transparency</a:t>
            </a:r>
            <a:r>
              <a:rPr lang="en-US" dirty="0"/>
              <a:t>:</a:t>
            </a:r>
          </a:p>
          <a:p>
            <a:pPr lvl="1"/>
            <a:r>
              <a:rPr lang="en-US" dirty="0"/>
              <a:t>Individual client scoring outputs a default probability % and a Risk Band (Low, Medium, High).</a:t>
            </a:r>
          </a:p>
          <a:p>
            <a:r>
              <a:rPr lang="en-US" b="1" dirty="0"/>
              <a:t>SHAP </a:t>
            </a:r>
            <a:r>
              <a:rPr lang="en-US" b="1" dirty="0" err="1"/>
              <a:t>TreeExplainer</a:t>
            </a:r>
            <a:r>
              <a:rPr lang="en-US" dirty="0"/>
              <a:t>:</a:t>
            </a:r>
          </a:p>
          <a:p>
            <a:pPr lvl="1"/>
            <a:r>
              <a:rPr lang="en-US" dirty="0"/>
              <a:t>Computes mathematical local feature importance weights for every prediction.</a:t>
            </a:r>
          </a:p>
          <a:p>
            <a:r>
              <a:rPr lang="en-US" b="1" dirty="0"/>
              <a:t>Narrative Synthesis</a:t>
            </a:r>
            <a:r>
              <a:rPr lang="en-US" dirty="0"/>
              <a:t>:</a:t>
            </a:r>
          </a:p>
          <a:p>
            <a:pPr lvl="1"/>
            <a:r>
              <a:rPr lang="en-US" dirty="0"/>
              <a:t>Compiles the top positive drivers (factors raising risk) and negative drivers (factors lowering risk).</a:t>
            </a:r>
          </a:p>
          <a:p>
            <a:pPr lvl="1"/>
            <a:r>
              <a:rPr lang="en-US" dirty="0"/>
              <a:t>Feeds these values to the LLM (</a:t>
            </a:r>
            <a:r>
              <a:rPr lang="en-US" dirty="0" err="1"/>
              <a:t>Groq</a:t>
            </a:r>
            <a:r>
              <a:rPr lang="en-US" dirty="0"/>
              <a:t>/Gemini/OpenAI) to generate a business-friendly justification (narrative description) and recommended actions for the Relationship Manager (RM).</a:t>
            </a:r>
          </a:p>
          <a:p>
            <a:endParaRPr lang="en-IN" dirty="0"/>
          </a:p>
        </p:txBody>
      </p:sp>
    </p:spTree>
    <p:extLst>
      <p:ext uri="{BB962C8B-B14F-4D97-AF65-F5344CB8AC3E}">
        <p14:creationId xmlns:p14="http://schemas.microsoft.com/office/powerpoint/2010/main" val="32632008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1FD59-01C7-EE05-D93C-AA5D52459637}"/>
              </a:ext>
            </a:extLst>
          </p:cNvPr>
          <p:cNvSpPr>
            <a:spLocks noGrp="1"/>
          </p:cNvSpPr>
          <p:nvPr>
            <p:ph type="title"/>
          </p:nvPr>
        </p:nvSpPr>
        <p:spPr/>
        <p:txBody>
          <a:bodyPr/>
          <a:lstStyle/>
          <a:p>
            <a:r>
              <a:rPr lang="en-US" dirty="0"/>
              <a:t>Conversational Talk-to-Data Chatbot</a:t>
            </a:r>
            <a:endParaRPr lang="en-IN" dirty="0"/>
          </a:p>
        </p:txBody>
      </p:sp>
      <p:sp>
        <p:nvSpPr>
          <p:cNvPr id="3" name="Content Placeholder 2">
            <a:extLst>
              <a:ext uri="{FF2B5EF4-FFF2-40B4-BE49-F238E27FC236}">
                <a16:creationId xmlns:a16="http://schemas.microsoft.com/office/drawing/2014/main" id="{CFA15E3F-54ED-E562-CA8D-FDD3035C43E9}"/>
              </a:ext>
            </a:extLst>
          </p:cNvPr>
          <p:cNvSpPr>
            <a:spLocks noGrp="1"/>
          </p:cNvSpPr>
          <p:nvPr>
            <p:ph idx="1"/>
          </p:nvPr>
        </p:nvSpPr>
        <p:spPr/>
        <p:txBody>
          <a:bodyPr>
            <a:normAutofit/>
          </a:bodyPr>
          <a:lstStyle/>
          <a:p>
            <a:r>
              <a:rPr lang="en-US" b="1" dirty="0"/>
              <a:t>Objective</a:t>
            </a:r>
            <a:r>
              <a:rPr lang="en-US" dirty="0"/>
              <a:t>: Allow banking analysts to query data using natural language (NL-to-SQL).</a:t>
            </a:r>
          </a:p>
          <a:p>
            <a:r>
              <a:rPr lang="en-US" b="1" dirty="0"/>
              <a:t>Execution Flow</a:t>
            </a:r>
            <a:r>
              <a:rPr lang="en-US" dirty="0"/>
              <a:t>:</a:t>
            </a:r>
          </a:p>
          <a:p>
            <a:pPr lvl="1"/>
            <a:r>
              <a:rPr lang="en-US" dirty="0"/>
              <a:t>User asks a question (e.g. </a:t>
            </a:r>
            <a:r>
              <a:rPr lang="en-US" i="1" dirty="0"/>
              <a:t>"What is the average credit score of defaulting customers?"</a:t>
            </a:r>
            <a:r>
              <a:rPr lang="en-US" dirty="0"/>
              <a:t>).</a:t>
            </a:r>
          </a:p>
          <a:p>
            <a:pPr lvl="1"/>
            <a:r>
              <a:rPr lang="en-US" dirty="0"/>
              <a:t>Prompt constructs system context using Postgres column description metadata.</a:t>
            </a:r>
          </a:p>
          <a:p>
            <a:pPr lvl="1"/>
            <a:r>
              <a:rPr lang="en-US" dirty="0"/>
              <a:t>LLM translates the query into syntax-accurate SQL.</a:t>
            </a:r>
          </a:p>
          <a:p>
            <a:r>
              <a:rPr lang="en-US" b="1" dirty="0"/>
              <a:t>Self-Repair Execution Loop</a:t>
            </a:r>
            <a:r>
              <a:rPr lang="en-US" dirty="0"/>
              <a:t>:</a:t>
            </a:r>
          </a:p>
          <a:p>
            <a:pPr lvl="1"/>
            <a:r>
              <a:rPr lang="en-US" dirty="0"/>
              <a:t>If the database encounters an execution or syntax error, the backend catches the traceback, sends it back to the LLM with the error logs, and automatically regenerates and executes the repaired SQL query.</a:t>
            </a:r>
          </a:p>
          <a:p>
            <a:endParaRPr lang="en-IN" dirty="0"/>
          </a:p>
        </p:txBody>
      </p:sp>
    </p:spTree>
    <p:extLst>
      <p:ext uri="{BB962C8B-B14F-4D97-AF65-F5344CB8AC3E}">
        <p14:creationId xmlns:p14="http://schemas.microsoft.com/office/powerpoint/2010/main" val="3902842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12C20-3667-DD90-6285-7277B3FF5E20}"/>
              </a:ext>
            </a:extLst>
          </p:cNvPr>
          <p:cNvSpPr>
            <a:spLocks noGrp="1"/>
          </p:cNvSpPr>
          <p:nvPr>
            <p:ph type="title"/>
          </p:nvPr>
        </p:nvSpPr>
        <p:spPr/>
        <p:txBody>
          <a:bodyPr/>
          <a:lstStyle/>
          <a:p>
            <a:r>
              <a:rPr lang="en-US" dirty="0"/>
              <a:t> Statistical Credit Policy Rules</a:t>
            </a:r>
            <a:endParaRPr lang="en-IN" dirty="0"/>
          </a:p>
        </p:txBody>
      </p:sp>
      <p:sp>
        <p:nvSpPr>
          <p:cNvPr id="3" name="Content Placeholder 2">
            <a:extLst>
              <a:ext uri="{FF2B5EF4-FFF2-40B4-BE49-F238E27FC236}">
                <a16:creationId xmlns:a16="http://schemas.microsoft.com/office/drawing/2014/main" id="{88AB1756-953E-9202-3520-24EDEDD57E6B}"/>
              </a:ext>
            </a:extLst>
          </p:cNvPr>
          <p:cNvSpPr>
            <a:spLocks noGrp="1"/>
          </p:cNvSpPr>
          <p:nvPr>
            <p:ph idx="1"/>
          </p:nvPr>
        </p:nvSpPr>
        <p:spPr/>
        <p:txBody>
          <a:bodyPr>
            <a:normAutofit lnSpcReduction="10000"/>
          </a:bodyPr>
          <a:lstStyle/>
          <a:p>
            <a:r>
              <a:rPr lang="en-US" b="1" dirty="0"/>
              <a:t>ML to Policy Rules</a:t>
            </a:r>
            <a:r>
              <a:rPr lang="en-US" dirty="0"/>
              <a:t>:</a:t>
            </a:r>
          </a:p>
          <a:p>
            <a:pPr lvl="1"/>
            <a:r>
              <a:rPr lang="en-US" dirty="0"/>
              <a:t>Bridge the gap between black-box predictions and human-readable credit policy criteria.</a:t>
            </a:r>
          </a:p>
          <a:p>
            <a:r>
              <a:rPr lang="en-US" b="1" dirty="0"/>
              <a:t>Cutoff Extraction</a:t>
            </a:r>
            <a:r>
              <a:rPr lang="en-US" dirty="0"/>
              <a:t>:</a:t>
            </a:r>
          </a:p>
          <a:p>
            <a:pPr lvl="1"/>
            <a:r>
              <a:rPr lang="en-US" dirty="0"/>
              <a:t>Extracts decision tree splits to form explicit policy rules (e.g. EXT_SOURCE_2 &lt; 0.35 AND AMT_INCOME_TOTAL &lt; 120000).</a:t>
            </a:r>
          </a:p>
          <a:p>
            <a:r>
              <a:rPr lang="en-US" b="1" dirty="0"/>
              <a:t>Mathematical Validation</a:t>
            </a:r>
            <a:r>
              <a:rPr lang="en-US" dirty="0"/>
              <a:t>:</a:t>
            </a:r>
          </a:p>
          <a:p>
            <a:pPr lvl="1"/>
            <a:r>
              <a:rPr lang="en-US" dirty="0"/>
              <a:t>Calculates segment default rate vs. base default rate (</a:t>
            </a:r>
            <a:r>
              <a:rPr lang="en-US" b="1" dirty="0"/>
              <a:t>Lift</a:t>
            </a:r>
            <a:r>
              <a:rPr lang="en-US" dirty="0"/>
              <a:t>).</a:t>
            </a:r>
          </a:p>
          <a:p>
            <a:pPr lvl="1"/>
            <a:r>
              <a:rPr lang="en-US" dirty="0"/>
              <a:t>Executes a </a:t>
            </a:r>
            <a:r>
              <a:rPr lang="en-US" b="1" dirty="0"/>
              <a:t>two-sample proportion Z-test</a:t>
            </a:r>
            <a:r>
              <a:rPr lang="en-US" dirty="0"/>
              <a:t> against the complement.</a:t>
            </a:r>
          </a:p>
          <a:p>
            <a:pPr lvl="1"/>
            <a:r>
              <a:rPr lang="en-US" dirty="0"/>
              <a:t>Only rules that reject the null hypothesis ($H_0$: no difference in default rates) with statistical significance ($p$-value $&lt; 0.05$) are saved to the persistent </a:t>
            </a:r>
            <a:r>
              <a:rPr lang="en-US" dirty="0" err="1"/>
              <a:t>approved_rules.json</a:t>
            </a:r>
            <a:r>
              <a:rPr lang="en-US" dirty="0"/>
              <a:t> registry.</a:t>
            </a:r>
          </a:p>
          <a:p>
            <a:endParaRPr lang="en-IN" dirty="0"/>
          </a:p>
        </p:txBody>
      </p:sp>
    </p:spTree>
    <p:extLst>
      <p:ext uri="{BB962C8B-B14F-4D97-AF65-F5344CB8AC3E}">
        <p14:creationId xmlns:p14="http://schemas.microsoft.com/office/powerpoint/2010/main" val="2687360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2105D-F1AE-CC68-7750-84ED579C6017}"/>
              </a:ext>
            </a:extLst>
          </p:cNvPr>
          <p:cNvSpPr>
            <a:spLocks noGrp="1"/>
          </p:cNvSpPr>
          <p:nvPr>
            <p:ph type="title"/>
          </p:nvPr>
        </p:nvSpPr>
        <p:spPr/>
        <p:txBody>
          <a:bodyPr/>
          <a:lstStyle/>
          <a:p>
            <a:r>
              <a:rPr lang="en-IN" dirty="0"/>
              <a:t>Docker Containerization &amp; Fallback Notice</a:t>
            </a:r>
          </a:p>
        </p:txBody>
      </p:sp>
      <p:sp>
        <p:nvSpPr>
          <p:cNvPr id="3" name="Content Placeholder 2">
            <a:extLst>
              <a:ext uri="{FF2B5EF4-FFF2-40B4-BE49-F238E27FC236}">
                <a16:creationId xmlns:a16="http://schemas.microsoft.com/office/drawing/2014/main" id="{7279A045-AFB6-CCA5-E95C-5DAD7F445742}"/>
              </a:ext>
            </a:extLst>
          </p:cNvPr>
          <p:cNvSpPr>
            <a:spLocks noGrp="1"/>
          </p:cNvSpPr>
          <p:nvPr>
            <p:ph idx="1"/>
          </p:nvPr>
        </p:nvSpPr>
        <p:spPr/>
        <p:txBody>
          <a:bodyPr>
            <a:normAutofit/>
          </a:bodyPr>
          <a:lstStyle/>
          <a:p>
            <a:r>
              <a:rPr lang="en-IN" b="1" dirty="0"/>
              <a:t>Docker Packaging</a:t>
            </a:r>
            <a:r>
              <a:rPr lang="en-IN" dirty="0"/>
              <a:t>:</a:t>
            </a:r>
          </a:p>
          <a:p>
            <a:pPr lvl="1"/>
            <a:r>
              <a:rPr lang="en-IN" dirty="0"/>
              <a:t>A Docker environment is fully configured with a root </a:t>
            </a:r>
            <a:r>
              <a:rPr lang="en-IN" dirty="0" err="1"/>
              <a:t>Dockerfile</a:t>
            </a:r>
            <a:r>
              <a:rPr lang="en-IN" dirty="0"/>
              <a:t> and docker-</a:t>
            </a:r>
            <a:r>
              <a:rPr lang="en-IN" dirty="0" err="1"/>
              <a:t>compose.yml</a:t>
            </a:r>
            <a:r>
              <a:rPr lang="en-IN" dirty="0"/>
              <a:t>.</a:t>
            </a:r>
          </a:p>
          <a:p>
            <a:pPr lvl="1"/>
            <a:r>
              <a:rPr lang="en-IN" dirty="0"/>
              <a:t>Services are containerized into three decoupled tasks: </a:t>
            </a:r>
            <a:r>
              <a:rPr lang="en-IN" dirty="0" err="1"/>
              <a:t>postgres</a:t>
            </a:r>
            <a:r>
              <a:rPr lang="en-IN" dirty="0"/>
              <a:t> database, </a:t>
            </a:r>
            <a:r>
              <a:rPr lang="en-IN" dirty="0" err="1"/>
              <a:t>api</a:t>
            </a:r>
            <a:r>
              <a:rPr lang="en-IN" dirty="0"/>
              <a:t> </a:t>
            </a:r>
            <a:r>
              <a:rPr lang="en-IN" dirty="0" err="1"/>
              <a:t>FastAPI</a:t>
            </a:r>
            <a:r>
              <a:rPr lang="en-IN" dirty="0"/>
              <a:t> service, and </a:t>
            </a:r>
            <a:r>
              <a:rPr lang="en-IN" dirty="0" err="1"/>
              <a:t>ui</a:t>
            </a:r>
            <a:r>
              <a:rPr lang="en-IN" dirty="0"/>
              <a:t> </a:t>
            </a:r>
            <a:r>
              <a:rPr lang="en-IN" dirty="0" err="1"/>
              <a:t>Streamlit</a:t>
            </a:r>
            <a:r>
              <a:rPr lang="en-IN" dirty="0"/>
              <a:t> dashboard.</a:t>
            </a:r>
          </a:p>
          <a:p>
            <a:r>
              <a:rPr lang="en-IN" b="1" dirty="0"/>
              <a:t>Localhost Verification</a:t>
            </a:r>
            <a:r>
              <a:rPr lang="en-IN" dirty="0"/>
              <a:t>:</a:t>
            </a:r>
          </a:p>
          <a:p>
            <a:pPr lvl="1"/>
            <a:r>
              <a:rPr lang="en-IN" dirty="0"/>
              <a:t>During local environment development, WSL/host network socket pipe timeouts occurred on the Docker daemon.</a:t>
            </a:r>
          </a:p>
          <a:p>
            <a:pPr lvl="1"/>
            <a:r>
              <a:rPr lang="en-IN" dirty="0"/>
              <a:t>Consequently, the platform was verified and run using </a:t>
            </a:r>
            <a:r>
              <a:rPr lang="en-IN" b="1" dirty="0"/>
              <a:t>Standard Localhost Execution (Option B)</a:t>
            </a:r>
            <a:r>
              <a:rPr lang="en-IN" dirty="0"/>
              <a:t> (</a:t>
            </a:r>
            <a:r>
              <a:rPr lang="en-IN" dirty="0" err="1"/>
              <a:t>FastAPI</a:t>
            </a:r>
            <a:r>
              <a:rPr lang="en-IN" dirty="0"/>
              <a:t> and </a:t>
            </a:r>
            <a:r>
              <a:rPr lang="en-IN" dirty="0" err="1"/>
              <a:t>Streamlit</a:t>
            </a:r>
            <a:r>
              <a:rPr lang="en-IN" dirty="0"/>
              <a:t> run in a local .</a:t>
            </a:r>
            <a:r>
              <a:rPr lang="en-IN" dirty="0" err="1"/>
              <a:t>venv</a:t>
            </a:r>
            <a:r>
              <a:rPr lang="en-IN" dirty="0"/>
              <a:t> environment) to ensure complete runtime correctness. Both running options are fully configured.</a:t>
            </a:r>
          </a:p>
          <a:p>
            <a:endParaRPr lang="en-IN" dirty="0"/>
          </a:p>
        </p:txBody>
      </p:sp>
    </p:spTree>
    <p:extLst>
      <p:ext uri="{BB962C8B-B14F-4D97-AF65-F5344CB8AC3E}">
        <p14:creationId xmlns:p14="http://schemas.microsoft.com/office/powerpoint/2010/main" val="87505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3806E-12CA-D98B-269D-7B65ABAB63B7}"/>
              </a:ext>
            </a:extLst>
          </p:cNvPr>
          <p:cNvSpPr>
            <a:spLocks noGrp="1"/>
          </p:cNvSpPr>
          <p:nvPr>
            <p:ph type="title"/>
          </p:nvPr>
        </p:nvSpPr>
        <p:spPr>
          <a:xfrm>
            <a:off x="838200" y="365126"/>
            <a:ext cx="10515600" cy="877266"/>
          </a:xfrm>
        </p:spPr>
        <p:txBody>
          <a:bodyPr/>
          <a:lstStyle/>
          <a:p>
            <a:r>
              <a:rPr lang="en-US" dirty="0"/>
              <a:t>Conclusion &amp; Outputs</a:t>
            </a:r>
            <a:endParaRPr lang="en-IN" dirty="0"/>
          </a:p>
        </p:txBody>
      </p:sp>
      <p:sp>
        <p:nvSpPr>
          <p:cNvPr id="3" name="Content Placeholder 2">
            <a:extLst>
              <a:ext uri="{FF2B5EF4-FFF2-40B4-BE49-F238E27FC236}">
                <a16:creationId xmlns:a16="http://schemas.microsoft.com/office/drawing/2014/main" id="{96713C74-E1FE-3FF7-EBC9-DD7118520550}"/>
              </a:ext>
            </a:extLst>
          </p:cNvPr>
          <p:cNvSpPr>
            <a:spLocks noGrp="1"/>
          </p:cNvSpPr>
          <p:nvPr>
            <p:ph idx="1"/>
          </p:nvPr>
        </p:nvSpPr>
        <p:spPr>
          <a:xfrm>
            <a:off x="566529" y="1053548"/>
            <a:ext cx="11012557" cy="5123415"/>
          </a:xfrm>
        </p:spPr>
        <p:txBody>
          <a:bodyPr>
            <a:normAutofit/>
          </a:bodyPr>
          <a:lstStyle/>
          <a:p>
            <a:r>
              <a:rPr lang="en-US" sz="2000" b="1" dirty="0"/>
              <a:t>Summary of Achievements</a:t>
            </a:r>
            <a:r>
              <a:rPr lang="en-US" sz="2000" dirty="0"/>
              <a:t>:</a:t>
            </a:r>
          </a:p>
          <a:p>
            <a:pPr lvl="1"/>
            <a:r>
              <a:rPr lang="en-US" sz="2000" dirty="0"/>
              <a:t>Successfully delivered data preprocessing, database loading, ML classification, and SHAP explainability.</a:t>
            </a:r>
          </a:p>
          <a:p>
            <a:pPr lvl="1"/>
            <a:r>
              <a:rPr lang="en-US" sz="2000" dirty="0"/>
              <a:t>Implemented an advanced SQL agent with self-repair capabilities and a statistically sound policy validation registry.</a:t>
            </a:r>
          </a:p>
          <a:p>
            <a:r>
              <a:rPr lang="en-US" sz="2000" b="1" dirty="0"/>
              <a:t>Screenshots Attached</a:t>
            </a:r>
            <a:r>
              <a:rPr lang="en-US" sz="2000" dirty="0"/>
              <a:t>:</a:t>
            </a:r>
          </a:p>
          <a:p>
            <a:endParaRPr lang="en-IN" dirty="0"/>
          </a:p>
        </p:txBody>
      </p:sp>
      <p:pic>
        <p:nvPicPr>
          <p:cNvPr id="7" name="Picture 6">
            <a:extLst>
              <a:ext uri="{FF2B5EF4-FFF2-40B4-BE49-F238E27FC236}">
                <a16:creationId xmlns:a16="http://schemas.microsoft.com/office/drawing/2014/main" id="{379A858E-AE1B-3688-FCA1-165EDE7BCF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0757" y="3429000"/>
            <a:ext cx="5675243" cy="2971934"/>
          </a:xfrm>
          <a:prstGeom prst="rect">
            <a:avLst/>
          </a:prstGeom>
        </p:spPr>
      </p:pic>
      <p:pic>
        <p:nvPicPr>
          <p:cNvPr id="9" name="Picture 8">
            <a:extLst>
              <a:ext uri="{FF2B5EF4-FFF2-40B4-BE49-F238E27FC236}">
                <a16:creationId xmlns:a16="http://schemas.microsoft.com/office/drawing/2014/main" id="{1A9B986E-23E8-F9F2-30AA-244BD9756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348" y="3429000"/>
            <a:ext cx="5675243" cy="2971934"/>
          </a:xfrm>
          <a:prstGeom prst="rect">
            <a:avLst/>
          </a:prstGeom>
        </p:spPr>
      </p:pic>
    </p:spTree>
    <p:extLst>
      <p:ext uri="{BB962C8B-B14F-4D97-AF65-F5344CB8AC3E}">
        <p14:creationId xmlns:p14="http://schemas.microsoft.com/office/powerpoint/2010/main" val="3684468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590182-AF4A-0348-EE0F-713F08989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713" y="234294"/>
            <a:ext cx="4999383" cy="2985983"/>
          </a:xfrm>
          <a:prstGeom prst="rect">
            <a:avLst/>
          </a:prstGeom>
        </p:spPr>
      </p:pic>
      <p:pic>
        <p:nvPicPr>
          <p:cNvPr id="5" name="Picture 4">
            <a:extLst>
              <a:ext uri="{FF2B5EF4-FFF2-40B4-BE49-F238E27FC236}">
                <a16:creationId xmlns:a16="http://schemas.microsoft.com/office/drawing/2014/main" id="{40E1CB7A-C2A5-938E-FBEC-8E9F971287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0618" y="234295"/>
            <a:ext cx="4999384" cy="2985981"/>
          </a:xfrm>
          <a:prstGeom prst="rect">
            <a:avLst/>
          </a:prstGeom>
        </p:spPr>
      </p:pic>
      <p:pic>
        <p:nvPicPr>
          <p:cNvPr id="6" name="Picture 5">
            <a:extLst>
              <a:ext uri="{FF2B5EF4-FFF2-40B4-BE49-F238E27FC236}">
                <a16:creationId xmlns:a16="http://schemas.microsoft.com/office/drawing/2014/main" id="{F9D21F73-C316-4AB9-4424-180268B7FBD5}"/>
              </a:ext>
            </a:extLst>
          </p:cNvPr>
          <p:cNvPicPr>
            <a:picLocks noChangeAspect="1"/>
          </p:cNvPicPr>
          <p:nvPr/>
        </p:nvPicPr>
        <p:blipFill>
          <a:blip r:embed="rId4"/>
          <a:stretch>
            <a:fillRect/>
          </a:stretch>
        </p:blipFill>
        <p:spPr>
          <a:xfrm>
            <a:off x="472108" y="3528390"/>
            <a:ext cx="5128591" cy="3150839"/>
          </a:xfrm>
          <a:prstGeom prst="rect">
            <a:avLst/>
          </a:prstGeom>
        </p:spPr>
      </p:pic>
    </p:spTree>
    <p:extLst>
      <p:ext uri="{BB962C8B-B14F-4D97-AF65-F5344CB8AC3E}">
        <p14:creationId xmlns:p14="http://schemas.microsoft.com/office/powerpoint/2010/main" val="425070663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20</TotalTime>
  <Words>924</Words>
  <Application>Microsoft Office PowerPoint</Application>
  <PresentationFormat>Widescreen</PresentationFormat>
  <Paragraphs>75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AI-Powered Credit Risk Intelligence Platform  Lightweight Explainable Credit Scoring, Policy Rule Verification, and Conversational Analytics  Name: Divyanshi Raghuwanshi</vt:lpstr>
      <vt:lpstr>Project Objectives</vt:lpstr>
      <vt:lpstr> System Architecture &amp; Tech Stack</vt:lpstr>
      <vt:lpstr>Data Processing &amp; EDA Insights</vt:lpstr>
      <vt:lpstr>Predictive ML Modeling</vt:lpstr>
      <vt:lpstr>Explainable AI (SHAP + LLM)</vt:lpstr>
      <vt:lpstr>Conversational Talk-to-Data Chatbot</vt:lpstr>
      <vt:lpstr> Statistical Credit Policy Rules</vt:lpstr>
      <vt:lpstr>Docker Containerization &amp; Fallback Notice</vt:lpstr>
      <vt:lpstr>Conclusion &amp; Outputs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divyanshi raghuwanshi</dc:creator>
  <cp:lastModifiedBy>divyanshi raghuwanshi</cp:lastModifiedBy>
  <cp:revision>6</cp:revision>
  <dcterms:created xsi:type="dcterms:W3CDTF">2026-06-02T05:06:08Z</dcterms:created>
  <dcterms:modified xsi:type="dcterms:W3CDTF">2026-06-02T05:26:11Z</dcterms:modified>
</cp:coreProperties>
</file>